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53BC2C-06E9-4018-9C02-A93D3A7C2698}">
  <a:tblStyle styleId="{D553BC2C-06E9-4018-9C02-A93D3A7C26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b925f3c1f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8b925f3c1f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8b925f3c1f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b925f3c1f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8b925f3c1f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8b925f3c1f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b925f3c1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8b925f3c1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8b925f3c1f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b925f3c1f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8b925f3c1f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8b925f3c1f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b925f3c1f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8b925f3c1f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8b925f3c1f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D8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16002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3E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FC3E8"/>
                </a:solidFill>
                <a:latin typeface="Arial"/>
                <a:ea typeface="Arial"/>
                <a:cs typeface="Arial"/>
                <a:sym typeface="Arial"/>
              </a:rPr>
              <a:t>SUMMER </a:t>
            </a:r>
            <a:r>
              <a:rPr b="1" lang="en-US" sz="1300">
                <a:solidFill>
                  <a:srgbClr val="8FC3E8"/>
                </a:solidFill>
              </a:rPr>
              <a:t>INTERNSHIP</a:t>
            </a:r>
            <a:r>
              <a:rPr b="1" i="0" lang="en-US" sz="1300" u="none" cap="none" strike="noStrike">
                <a:solidFill>
                  <a:srgbClr val="8FC3E8"/>
                </a:solidFill>
                <a:latin typeface="Arial"/>
                <a:ea typeface="Arial"/>
                <a:cs typeface="Arial"/>
                <a:sym typeface="Arial"/>
              </a:rPr>
              <a:t>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79290" y="2131435"/>
            <a:ext cx="110943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</a:rPr>
              <a:t>Estimating How Monopiles Affect Turbulence in Ocean Models</a:t>
            </a:r>
            <a:endParaRPr b="1" sz="3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3E8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  <a:t>From Cylinder Validation to Monopile Turbulence Parameterization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48056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Gloria Wang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</a:t>
            </a:r>
            <a:br>
              <a:rPr b="0" i="0" lang="en-US" sz="1400" u="none" cap="none" strike="noStrike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  <a:t>Supervised by Dr. Yongsheng Wu and Dr. Yongxing Ma</a:t>
            </a:r>
            <a:br>
              <a:rPr b="0" i="0" lang="en-US" sz="1400" u="none" cap="none" strike="noStrike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  <a:t>June </a:t>
            </a:r>
            <a:r>
              <a:rPr lang="en-US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b="0" i="0" lang="en-US" sz="1400" u="none" cap="none" strike="noStrike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  <a:t>August 26</a:t>
            </a:r>
            <a:r>
              <a:rPr b="0" i="0" lang="en-US" sz="1400" u="none" cap="none" strike="noStrike">
                <a:solidFill>
                  <a:srgbClr val="8FC3E8"/>
                </a:solidFill>
                <a:latin typeface="Calibri"/>
                <a:ea typeface="Calibri"/>
                <a:cs typeface="Calibri"/>
                <a:sym typeface="Calibri"/>
              </a:rPr>
              <a:t>,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D8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48640" y="2788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3E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FC3E8"/>
                </a:solidFill>
                <a:latin typeface="Arial"/>
                <a:ea typeface="Arial"/>
                <a:cs typeface="Arial"/>
                <a:sym typeface="Arial"/>
              </a:rPr>
              <a:t>PART 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3154680"/>
            <a:ext cx="1109441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Life at BIO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LIFE AT BIO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12 Weeks at BIO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48640" y="1554480"/>
            <a:ext cx="57607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sits on the Bedford Basin in Halifax, Nova Scotia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It is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Canada's largest ocean research centre on the Atlantic coast. I spent 12 weeks with the offshore wind farm group, running simulations and calculating metrics to help estimate the oceanographic impact of monopile construction in Halifax Harbour.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Life · 1/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 title="IMG_084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825" y="893750"/>
            <a:ext cx="3802875" cy="50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LIFE AT BIO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Halifax Life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243185" y="1399030"/>
            <a:ext cx="5760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Outside the lab, Halifax offered a coastline to explore and a city small enough to feel like home. Weekends were split between the waterfront, downtown, and getting to know the Maritimes 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🐳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0180015" y="64739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Life · 2/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6" title="IMG_0942.jpg"/>
          <p:cNvPicPr preferRelativeResize="0"/>
          <p:nvPr/>
        </p:nvPicPr>
        <p:blipFill rotWithShape="1">
          <a:blip r:embed="rId3">
            <a:alphaModFix/>
          </a:blip>
          <a:srcRect b="21524" l="0" r="0" t="17152"/>
          <a:stretch/>
        </p:blipFill>
        <p:spPr>
          <a:xfrm>
            <a:off x="548650" y="1764012"/>
            <a:ext cx="4035825" cy="4344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6" title="IMG_112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3174" y="2939020"/>
            <a:ext cx="2377425" cy="3169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 title="IMG_113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4340" y="2939030"/>
            <a:ext cx="2377440" cy="316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D86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548640" y="2788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3E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FC3E8"/>
                </a:solidFill>
                <a:latin typeface="Arial"/>
                <a:ea typeface="Arial"/>
                <a:cs typeface="Arial"/>
                <a:sym typeface="Arial"/>
              </a:rPr>
              <a:t>PART TWO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548640" y="3154680"/>
            <a:ext cx="1109441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Work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THE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1336515" y="1600272"/>
            <a:ext cx="502800" cy="50280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1336515" y="160027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113755" y="162770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1336515" y="2468953"/>
            <a:ext cx="502800" cy="50280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1336515" y="2468953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113755" y="2496385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1336515" y="3337632"/>
            <a:ext cx="502800" cy="50280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1336515" y="333763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2113755" y="336506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1336515" y="4206313"/>
            <a:ext cx="502800" cy="50280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1336515" y="4206313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113755" y="4233745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1336515" y="5074993"/>
            <a:ext cx="502800" cy="50280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1336515" y="5074993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2113755" y="5102425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Acknowledgements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Work · Outline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The Monopile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Introduction · 1/2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0235" y="1337307"/>
            <a:ext cx="5577840" cy="41833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 txBox="1"/>
          <p:nvPr/>
        </p:nvSpPr>
        <p:spPr>
          <a:xfrm>
            <a:off x="548650" y="1773275"/>
            <a:ext cx="43245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Monopiles are commonly used as foundations for </a:t>
            </a:r>
            <a:r>
              <a:rPr lang="en-US" sz="15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offshore wind turbines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Despite enabling the generation of large amounts of renewable energy, their presence </a:t>
            </a:r>
            <a:r>
              <a:rPr lang="en-US" sz="15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disturbs the surrounding water flow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potentially affecting nearby physical and biological ocean processes. Monopiles can also alter water column stratification, which is the vertical layering that influences mixing, oxygen transport, and nutrient exchange.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4D86"/>
                </a:solidFill>
              </a:rPr>
              <a:t>My Tasks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548640" y="1508760"/>
            <a:ext cx="110944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My work estimates the impact that installing offshore wind farm monopiles has on Halifax Harbour. It is consisted of two studies. The first is a validation study that calculates drag, pressure, and wake data for flow past a cylinder. The second is an LES-based study that quantifies monopile-generated turbulence 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548640" y="3108960"/>
            <a:ext cx="5212080" cy="2011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822960" y="33375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Study 1 — Flow Past Cylinder Validation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822960" y="384048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Does the simulation reproduce known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drag, shedding, and separation behaviour for flow past a cylinder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6080760" y="3108960"/>
            <a:ext cx="5212080" cy="20116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>
            <a:off x="6355080" y="33375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Study 2 — Turbulence  Parameterization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6355080" y="384048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How much turbulence does a monopile create, and what are αᵏ and c₄, the two numbers that describe it?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Both studies simulate the same 8 m cylinder in cross-flow at </a:t>
            </a:r>
            <a:r>
              <a:rPr b="0" i="1" lang="en-US" sz="1250" u="none" cap="none" strike="noStrike">
                <a:solidFill>
                  <a:srgbClr val="5C667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Re = 4×10⁶</a:t>
            </a:r>
            <a:r>
              <a:rPr b="0" i="1" lang="en-US" sz="125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, water depth 40 m, inflow velocity 0.5 m/s.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Introduction · 2/2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Simulation Setup &amp; Tools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11"/>
          <p:cNvGraphicFramePr/>
          <p:nvPr/>
        </p:nvGraphicFramePr>
        <p:xfrm>
          <a:off x="1494303" y="136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{D553BC2C-06E9-4018-9C02-A93D3A7C2698}</a:tableStyleId>
              </a:tblPr>
              <a:tblGrid>
                <a:gridCol w="2412200"/>
                <a:gridCol w="5717500"/>
              </a:tblGrid>
              <a:tr h="2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Reynolds Number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× 10⁶ 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Turbulence model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Spalart–Allmaras DDES / LES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~43M cells, 256 processors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Kinematic viscosity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 × 10⁻⁶ m²/s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Post-processing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ParaView 5.7.0, connected via MobaXterm/ThinLinc remote HPC access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Analysis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3.8, NumPy &amp; Matplotlib for FFT and plotting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11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Method · 1/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1" title="cylinder_channel_mesh_3pan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9741" y="3197400"/>
            <a:ext cx="6212526" cy="321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/>
        </p:nvSpPr>
        <p:spPr>
          <a:xfrm>
            <a:off x="457200" y="3200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AAC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457200" y="566928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Equations Used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457200" y="12344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Flow Past Cylinder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263640" y="12344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Turbulence Parameterization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12"/>
          <p:cNvGraphicFramePr/>
          <p:nvPr/>
        </p:nvGraphicFramePr>
        <p:xfrm>
          <a:off x="45720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{D553BC2C-06E9-4018-9C02-A93D3A7C2698}</a:tableStyleId>
              </a:tblPr>
              <a:tblGrid>
                <a:gridCol w="3200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Equation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Cd = Fd / (0.5·ρ·U∞²·D)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Drag coefficient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Cpb = (Pb − P∞) / (0.5·ρ·U∞²)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pressure coefficient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 = f·D / U∞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Strouhal number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 / D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Recirculation length (normalized)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 = ρ·U∞·D / μ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Reynolds number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" name="Google Shape;131;p12"/>
          <p:cNvGraphicFramePr/>
          <p:nvPr/>
        </p:nvGraphicFramePr>
        <p:xfrm>
          <a:off x="626364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{D553BC2C-06E9-4018-9C02-A93D3A7C2698}</a:tableStyleId>
              </a:tblPr>
              <a:tblGrid>
                <a:gridCol w="3200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Equation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kRes = ½(u′² + v′² + w′²)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Resolved turbulent kinetic energy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εRes = 2ν·s′ij·s′ij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Resolved dissipation rate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εLES = εRES + εSGS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dissipation rate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Pwake = −u′i u′j (∂ūi/∂xj)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Wake-generated TKE production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Sk,LES = ⟨Pwake⟩·Vc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Volume-averaged TKE source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S^pile_k = α^k · ½·CD,eff·(D/Acell)·|uh|³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Ocean-model TKE source term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S^pile_ε = c4 · (ε/k) · S^pile_k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Ocean-model dissipation source term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2"/>
          <p:cNvSpPr/>
          <p:nvPr/>
        </p:nvSpPr>
        <p:spPr>
          <a:xfrm>
            <a:off x="457200" y="4892040"/>
            <a:ext cx="5486400" cy="77730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9D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621792" y="4892040"/>
            <a:ext cx="5157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These five quantities validate the simulation against known drag, shedding, and separation behaviour for flow past a cylinder at Re = 4×10⁶.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6263640" y="5349240"/>
            <a:ext cx="5486400" cy="86880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9D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 txBox="1"/>
          <p:nvPr/>
        </p:nvSpPr>
        <p:spPr>
          <a:xfrm>
            <a:off x="6428232" y="5349240"/>
            <a:ext cx="5157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 standard k–ε ocean-model closure represents the unresolved monopile as a quadratic drag force; αᵏ and c₄ are the two parameters this study estimates from 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Method · </a:t>
            </a:r>
            <a:r>
              <a:rPr lang="en-US" sz="800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2/2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/>
        </p:nvSpPr>
        <p:spPr>
          <a:xfrm>
            <a:off x="457200" y="3200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AA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AAC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457200" y="566928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Everything Solved For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457200" y="12344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Validation Study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6263640" y="12344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LES Turbulence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13"/>
          <p:cNvGraphicFramePr/>
          <p:nvPr/>
        </p:nvGraphicFramePr>
        <p:xfrm>
          <a:off x="45720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{D553BC2C-06E9-4018-9C02-A93D3A7C2698}</a:tableStyleId>
              </a:tblPr>
              <a:tblGrid>
                <a:gridCol w="2377450"/>
                <a:gridCol w="31089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Cpb = −0.451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back-pressure coefficient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 = 0.505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Strouhal number (shedding frequency)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Lr/D = 1.214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Recirculation length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θsep = 117°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separation angle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Google Shape;148;p13"/>
          <p:cNvGraphicFramePr/>
          <p:nvPr/>
        </p:nvGraphicFramePr>
        <p:xfrm>
          <a:off x="626364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{D553BC2C-06E9-4018-9C02-A93D3A7C2698}</a:tableStyleId>
              </a:tblPr>
              <a:tblGrid>
                <a:gridCol w="2377450"/>
                <a:gridCol w="31089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kRes ≈ 2.90×10⁻⁴ m²/s²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Resolved TKE (volume-avg)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εLES ≈ 1.66×10⁻⁶ m²/s³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Dissipation terms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Sk,LES ≈ 2.15×10⁻⁶ m²/s³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Wake TKE production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Cd,eff = 0.404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Effective drag coefficient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Pdrag ≈ 4.83×10⁻⁶ m²/s³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Drag power per unit mass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αᵏ = 0.445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Fraction of drag power becoming TKE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c4 = 1.478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Dissipation-equation closure parameter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C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13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Results · 1/9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Drag, Pressure &amp; Wake Geometry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41028" y="1528985"/>
            <a:ext cx="260610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541028" y="1666145"/>
            <a:ext cx="260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b="1" lang="en-US" sz="3400">
                <a:solidFill>
                  <a:srgbClr val="014D86"/>
                </a:solidFill>
              </a:rPr>
              <a:t>404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678188" y="2580545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Cd — Drag Coefficient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3375668" y="1528985"/>
            <a:ext cx="260610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3375668" y="1666145"/>
            <a:ext cx="260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−0.451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3512828" y="2580545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Cpb — Back-Pressure Coefficient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210308" y="1528985"/>
            <a:ext cx="260610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6210308" y="1666145"/>
            <a:ext cx="260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1.214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6347468" y="2580545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Lr/D — Recirculation Length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9044948" y="1528985"/>
            <a:ext cx="260610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9044948" y="1666145"/>
            <a:ext cx="260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117°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9182108" y="2580545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Mean Separation Angle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541015" y="3542595"/>
            <a:ext cx="1109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Cd falls within the expected 0.2–0.5 range for post-critical flow (Re ≈ 4×10⁶); Cpb, Lr/D, and separation angle all sit within reported experimental ranges for this regime.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· 2/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4" title="CpVSAng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476" y="3877250"/>
            <a:ext cx="3895050" cy="25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Benchmarked Against Published Literature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15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{D553BC2C-06E9-4018-9C02-A93D3A7C2698}</a:tableStyleId>
              </a:tblPr>
              <a:tblGrid>
                <a:gridCol w="1645925"/>
                <a:gridCol w="1828800"/>
                <a:gridCol w="2011675"/>
                <a:gridCol w="1737350"/>
                <a:gridCol w="1737350"/>
                <a:gridCol w="1920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D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Study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D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Miralles &amp; Koobus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D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Yeon et al.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D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Roshko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D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Catalano et al.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D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4×10⁶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1×10⁶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7.6×10⁵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3.5–1×10⁷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1×10⁶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b="1" lang="en-US" sz="1100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Cpb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−0.451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−0.86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Sep. Angle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Lr/D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4D8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14D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15"/>
          <p:cNvSpPr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are broadly consistent with values reported in high-Reynolds-number cylinder-flow literature.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· 3/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The Turbulence </a:t>
            </a:r>
            <a:r>
              <a:rPr b="1" lang="en-US" sz="3000">
                <a:solidFill>
                  <a:srgbClr val="014D86"/>
                </a:solidFill>
              </a:rPr>
              <a:t>Parameters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1075715" y="1691640"/>
            <a:ext cx="2606100" cy="4023300"/>
          </a:xfrm>
          <a:prstGeom prst="rect">
            <a:avLst/>
          </a:prstGeom>
          <a:solidFill>
            <a:srgbClr val="014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1258595" y="187452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3E8"/>
              </a:buClr>
              <a:buSzPts val="1400"/>
              <a:buFont typeface="Arial"/>
              <a:buNone/>
            </a:pPr>
            <a:r>
              <a:rPr b="1" i="1" lang="en-US" u="none" cap="none" strike="noStrike">
                <a:solidFill>
                  <a:srgbClr val="8FC3E8"/>
                </a:solidFill>
                <a:latin typeface="Arial"/>
                <a:ea typeface="Arial"/>
                <a:cs typeface="Arial"/>
                <a:sym typeface="Arial"/>
              </a:rPr>
              <a:t>kRes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1251545" y="2548745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2.90×10⁻⁴ m²/s²</a:t>
            </a:r>
            <a:endParaRPr b="1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1" lang="en-US" sz="1900">
                <a:solidFill>
                  <a:srgbClr val="FFFFFF"/>
                </a:solidFill>
              </a:rPr>
              <a:t>volume averaged</a:t>
            </a:r>
            <a:endParaRPr b="1" i="1" sz="1900">
              <a:solidFill>
                <a:srgbClr val="FFFFFF"/>
              </a:solidFill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1258595" y="3063240"/>
            <a:ext cx="22404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3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F3FB"/>
                </a:solidFill>
                <a:latin typeface="Calibri"/>
                <a:ea typeface="Calibri"/>
                <a:cs typeface="Calibri"/>
                <a:sym typeface="Calibri"/>
              </a:rPr>
              <a:t>kRes = ½(u′²+v′²+w′²), built from the fluctuating velocity field.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4792955" y="1691640"/>
            <a:ext cx="2606100" cy="4023300"/>
          </a:xfrm>
          <a:prstGeom prst="rect">
            <a:avLst/>
          </a:prstGeom>
          <a:solidFill>
            <a:srgbClr val="014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4975835" y="1874545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3E8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8FC3E8"/>
                </a:solidFill>
              </a:rPr>
              <a:t>εLES​</a:t>
            </a:r>
            <a:r>
              <a:rPr lang="en-US">
                <a:solidFill>
                  <a:srgbClr val="8FC3E8"/>
                </a:solidFill>
              </a:rPr>
              <a:t> </a:t>
            </a:r>
            <a:endParaRPr b="0" i="0" u="none" cap="none" strike="noStrike">
              <a:solidFill>
                <a:srgbClr val="8FC3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4979335" y="2548745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1.66×10⁻⁶ m²/s³</a:t>
            </a:r>
            <a:endParaRPr b="1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1" lang="en-US" sz="1900">
                <a:solidFill>
                  <a:srgbClr val="FFFFFF"/>
                </a:solidFill>
              </a:rPr>
              <a:t>volume averaged</a:t>
            </a:r>
            <a:endParaRPr b="1" i="1" sz="1900">
              <a:solidFill>
                <a:srgbClr val="FFFFFF"/>
              </a:solidFill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4975835" y="3063265"/>
            <a:ext cx="22404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3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F3FB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1100">
                <a:solidFill>
                  <a:srgbClr val="EAF3FB"/>
                </a:solidFill>
                <a:latin typeface="Calibri"/>
                <a:ea typeface="Calibri"/>
                <a:cs typeface="Calibri"/>
                <a:sym typeface="Calibri"/>
              </a:rPr>
              <a:t>LES = εRes + εSGS</a:t>
            </a:r>
            <a:r>
              <a:rPr b="0" i="0" lang="en-US" sz="1100" u="none" cap="none" strike="noStrike">
                <a:solidFill>
                  <a:srgbClr val="EAF3F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100">
                <a:solidFill>
                  <a:srgbClr val="EAF3FB"/>
                </a:solidFill>
                <a:latin typeface="Calibri"/>
                <a:ea typeface="Calibri"/>
                <a:cs typeface="Calibri"/>
                <a:sym typeface="Calibri"/>
              </a:rPr>
              <a:t> combining resolved and subgrid-scale contributions.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8700045" y="1691640"/>
            <a:ext cx="2606100" cy="4023300"/>
          </a:xfrm>
          <a:prstGeom prst="rect">
            <a:avLst/>
          </a:prstGeom>
          <a:solidFill>
            <a:srgbClr val="014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8882925" y="187452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C3E8"/>
              </a:buClr>
              <a:buSzPts val="1400"/>
              <a:buFont typeface="Arial"/>
              <a:buNone/>
            </a:pPr>
            <a:r>
              <a:rPr b="1" i="1" lang="en-US">
                <a:solidFill>
                  <a:srgbClr val="8FC3E8"/>
                </a:solidFill>
              </a:rPr>
              <a:t>Pwake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8882925" y="2548745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2.15×10⁻⁶ m²/s³</a:t>
            </a:r>
            <a:endParaRPr b="1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1" lang="en-US" sz="1900">
                <a:solidFill>
                  <a:srgbClr val="FFFFFF"/>
                </a:solidFill>
              </a:rPr>
              <a:t>volume averaged</a:t>
            </a:r>
            <a:endParaRPr b="1" i="1" sz="1900">
              <a:solidFill>
                <a:srgbClr val="FFFFFF"/>
              </a:solidFill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8882925" y="3063240"/>
            <a:ext cx="22404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3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F3FB"/>
                </a:solidFill>
                <a:latin typeface="Calibri"/>
                <a:ea typeface="Calibri"/>
                <a:cs typeface="Calibri"/>
                <a:sym typeface="Calibri"/>
              </a:rPr>
              <a:t>Pwake = −u′ᵢu′ⱼ(∂ūᵢ/∂xⱼ), driven by the wake's mean velocity gradients.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· 4/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Ocean-Model Parameters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548640" y="1554480"/>
            <a:ext cx="1109441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effective drag coefficient sets the wake's available drag power; αᵏ is the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fraction of available drag power contributing to wake TKE production.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c₄ then links resolved dissipation back to the source term, giving Sᵖⁱˡᵉ_k and Sᵖⁱˡᵉ_ε 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These are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the two terms a regional ocean model plugs in directly as unresolved monopile turbulence.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2024465" y="2926093"/>
            <a:ext cx="3291900" cy="1737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2024465" y="3063253"/>
            <a:ext cx="329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0.445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2024465" y="3977653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αᵏ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6117165" y="2926093"/>
            <a:ext cx="3291900" cy="1737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6117165" y="3063253"/>
            <a:ext cx="329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1.478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6117165" y="3977653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c₄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c₄ (1.478) sits below the standard k–ε constant Cε2 (1.92)</a:t>
            </a:r>
            <a:r>
              <a:rPr i="1" lang="en-US" sz="125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· 5/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Flow Visualizations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619765" y="1309840"/>
            <a:ext cx="11094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Three short clips and a map capture the wake at Re = 4×10⁶: 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Vorticity contours reveal alternating vortex shedding behind the cylinder and the wake’s downstream transition into increasingly complex turbulent structures.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· 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6/9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8" title="vorticity_z_2panel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600" y="2174375"/>
            <a:ext cx="7896801" cy="425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548640" y="411480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548640" y="713232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Flow Visualizations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548640" y="1322090"/>
            <a:ext cx="11094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reveal a low-velocity wake behind the cylinder and its gradual recovery as the flow moves downstream.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10180015" y="64739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7/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54864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9" title="speed_2panel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238" y="2192765"/>
            <a:ext cx="7303517" cy="3932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/>
          <p:nvPr/>
        </p:nvSpPr>
        <p:spPr>
          <a:xfrm>
            <a:off x="548640" y="411480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48640" y="713232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Flow Visualizations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18015" y="1297565"/>
            <a:ext cx="11094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Viscosity: highlight regions of enhanced modeled turbulent mixing as vortices form and evolve throughout the wake.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10180015" y="64739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· 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8/9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4864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0" title="viscosity_2panel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350" y="1963501"/>
            <a:ext cx="8181300" cy="44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>
            <a:off x="548640" y="411480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48640" y="713232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Flow Visualizations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48640" y="1113690"/>
            <a:ext cx="11094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Time-averaged turbulence maps show where kinetic energy, dissipation, and modeled mixing are concentrated within the cylinder’s wake.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10180015" y="64739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Results · </a:t>
            </a:r>
            <a:r>
              <a:rPr lang="en-US" sz="9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9/9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4864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1" title="km_midplane.png"/>
          <p:cNvPicPr preferRelativeResize="0"/>
          <p:nvPr/>
        </p:nvPicPr>
        <p:blipFill rotWithShape="1">
          <a:blip r:embed="rId3">
            <a:alphaModFix/>
          </a:blip>
          <a:srcRect b="0" l="23763" r="5470" t="0"/>
          <a:stretch/>
        </p:blipFill>
        <p:spPr>
          <a:xfrm>
            <a:off x="4125892" y="1850400"/>
            <a:ext cx="4173107" cy="453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548640" y="1673352"/>
            <a:ext cx="91440" cy="9144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868680" y="1286075"/>
            <a:ext cx="10774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validation study confirms the simulation reproduces published drag, pressure, shedding, and separation behaviour for post-critical cylinder flow (Re = 4×10⁶).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548640" y="2724912"/>
            <a:ext cx="91440" cy="9144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868668" y="2314135"/>
            <a:ext cx="10774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LES-based analysis estimates αᵏ = 0.445 and c₄ = 1.478, indicating that 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wake TKE production corresponds to approximately 44.5% of the available drag power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below the common assumption of αᵏ = 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548640" y="3776472"/>
            <a:ext cx="91440" cy="9144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868618" y="3342182"/>
            <a:ext cx="10774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Together, these provide an LES-informed parameterization for implementation in a regional ocean model’s k–ε closure: Skpile​ and Sεpile​.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014D86"/>
          </a:solidFill>
          <a:ln cap="flat" cmpd="sng" w="127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868618" y="4456455"/>
            <a:ext cx="10774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limitations: </a:t>
            </a:r>
            <a:r>
              <a:rPr b="0" i="0" lang="en-US" sz="1400" u="sng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SGS kinetic energy is currently neglected in k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but included in ε; c₄ assumes local equilibrium in the near wake; </a:t>
            </a:r>
            <a:r>
              <a:rPr b="0" i="0" lang="en-US" sz="1400" u="none" cap="none" strike="noStrike">
                <a:solidFill>
                  <a:srgbClr val="1A1A1A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offline calibration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against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the mod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 is still pending,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and can give more accurate results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Acknowledgements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14D86"/>
                </a:solidFill>
                <a:latin typeface="Calibri"/>
                <a:ea typeface="Calibri"/>
                <a:cs typeface="Calibri"/>
                <a:sym typeface="Calibri"/>
              </a:rPr>
              <a:t>Thank You to Those Who Made This Summer Possible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548650" y="2057400"/>
            <a:ext cx="2628300" cy="3267300"/>
          </a:xfrm>
          <a:prstGeom prst="rect">
            <a:avLst/>
          </a:prstGeom>
          <a:solidFill>
            <a:srgbClr val="FFFFFF"/>
          </a:solidFill>
          <a:ln cap="flat" cmpd="sng" w="252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750" lIns="90750" spcFirstLastPara="1" rIns="90750" wrap="square" tIns="9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sp>
        <p:nvSpPr>
          <p:cNvPr id="293" name="Google Shape;293;p23"/>
          <p:cNvSpPr/>
          <p:nvPr/>
        </p:nvSpPr>
        <p:spPr>
          <a:xfrm>
            <a:off x="777203" y="2329670"/>
            <a:ext cx="2400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350" lIns="90750" spcFirstLastPara="1" rIns="90750" wrap="square" tIns="45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787"/>
              <a:buFont typeface="Arial"/>
              <a:buNone/>
            </a:pPr>
            <a:r>
              <a:rPr b="1" lang="en-US" sz="1787">
                <a:solidFill>
                  <a:srgbClr val="014D86"/>
                </a:solidFill>
              </a:rPr>
              <a:t>Dr. </a:t>
            </a:r>
            <a:r>
              <a:rPr b="1" i="0" lang="en-US" sz="1787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Marc Skinner</a:t>
            </a:r>
            <a:endParaRPr b="0" i="0" sz="17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777203" y="2919588"/>
            <a:ext cx="2400000" cy="2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350" lIns="90750" spcFirstLastPara="1" rIns="90750" wrap="square" tIns="4535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90"/>
              <a:buFont typeface="Calibri"/>
              <a:buNone/>
            </a:pPr>
            <a:r>
              <a:rPr b="0" i="0" lang="en-US" sz="129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a smooth hiring process that made this term possible.</a:t>
            </a:r>
            <a:endParaRPr b="0" i="0" sz="12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3505000" y="2057363"/>
            <a:ext cx="2670000" cy="3291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3718620" y="2331683"/>
            <a:ext cx="224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Dr. Yongsheng Wu &amp; Dr. Yongxing 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3718610" y="2926045"/>
            <a:ext cx="2242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supervision and guidance on OpenFOAM, ParaView, and turbulence-closure theory throughout the term.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6502799" y="2057350"/>
            <a:ext cx="2670000" cy="3291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6716399" y="2331671"/>
            <a:ext cx="224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14D86"/>
                </a:solidFill>
                <a:latin typeface="Arial"/>
                <a:ea typeface="Arial"/>
                <a:cs typeface="Arial"/>
                <a:sym typeface="Arial"/>
              </a:rPr>
              <a:t>Sharon Young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6716399" y="2926033"/>
            <a:ext cx="2242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HR support that made onboarding smooth.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Thank you all for your time</a:t>
            </a:r>
            <a:r>
              <a:rPr i="1" lang="en-US" sz="1300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10180015" y="6473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Acknowledgements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670"/>
                </a:solidFill>
                <a:latin typeface="Calibri"/>
                <a:ea typeface="Calibri"/>
                <a:cs typeface="Calibri"/>
                <a:sym typeface="Calibri"/>
              </a:rPr>
              <a:t>Bedford Institute of Oceanography  ·  Gloria Wang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9333124" y="2057363"/>
            <a:ext cx="2670000" cy="3291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14D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9546724" y="2331683"/>
            <a:ext cx="224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D8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14D86"/>
                </a:solidFill>
              </a:rPr>
              <a:t>Andy 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9546724" y="2926045"/>
            <a:ext cx="2242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always being willing to help and for making lunch breaks much more fun.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